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35000</c:v>
                </c:pt>
                <c:pt idx="1">
                  <c:v>20000</c:v>
                </c:pt>
                <c:pt idx="2">
                  <c:v>14000</c:v>
                </c:pt>
                <c:pt idx="3">
                  <c:v>9000</c:v>
                </c:pt>
                <c:pt idx="4">
                  <c:v>7000</c:v>
                </c:pt>
                <c:pt idx="5">
                  <c:v>8000</c:v>
                </c:pt>
                <c:pt idx="6">
                  <c:v>24000</c:v>
                </c:pt>
                <c:pt idx="7">
                  <c:v>48000</c:v>
                </c:pt>
                <c:pt idx="8">
                  <c:v>65000</c:v>
                </c:pt>
                <c:pt idx="9">
                  <c:v>79000</c:v>
                </c:pt>
                <c:pt idx="10">
                  <c:v>104000</c:v>
                </c:pt>
                <c:pt idx="11">
                  <c:v>119000</c:v>
                </c:pt>
                <c:pt idx="12">
                  <c:v>122000</c:v>
                </c:pt>
                <c:pt idx="13">
                  <c:v>129000</c:v>
                </c:pt>
                <c:pt idx="14">
                  <c:v>147000</c:v>
                </c:pt>
                <c:pt idx="15">
                  <c:v>163000</c:v>
                </c:pt>
                <c:pt idx="16">
                  <c:v>180000</c:v>
                </c:pt>
                <c:pt idx="17">
                  <c:v>156000</c:v>
                </c:pt>
                <c:pt idx="18">
                  <c:v>111000</c:v>
                </c:pt>
                <c:pt idx="19">
                  <c:v>84000</c:v>
                </c:pt>
                <c:pt idx="20">
                  <c:v>79000</c:v>
                </c:pt>
                <c:pt idx="21">
                  <c:v>68000</c:v>
                </c:pt>
                <c:pt idx="22">
                  <c:v>57000</c:v>
                </c:pt>
                <c:pt idx="23">
                  <c:v>44000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70-4A95-9C04-542E27A1DA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Member</c:v>
                </c:pt>
              </c:strCache>
            </c:strRef>
          </c:tx>
          <c:spPr>
            <a:solidFill>
              <a:srgbClr val="2A6EBB"/>
            </a:solidFill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27000</c:v>
                </c:pt>
                <c:pt idx="1">
                  <c:v>17000</c:v>
                </c:pt>
                <c:pt idx="2">
                  <c:v>12000</c:v>
                </c:pt>
                <c:pt idx="3">
                  <c:v>8000</c:v>
                </c:pt>
                <c:pt idx="4">
                  <c:v>8000</c:v>
                </c:pt>
                <c:pt idx="5">
                  <c:v>33000</c:v>
                </c:pt>
                <c:pt idx="6">
                  <c:v>95000</c:v>
                </c:pt>
                <c:pt idx="7">
                  <c:v>191000</c:v>
                </c:pt>
                <c:pt idx="8">
                  <c:v>247000</c:v>
                </c:pt>
                <c:pt idx="9">
                  <c:v>160000</c:v>
                </c:pt>
                <c:pt idx="10">
                  <c:v>136000</c:v>
                </c:pt>
                <c:pt idx="11">
                  <c:v>159000</c:v>
                </c:pt>
                <c:pt idx="12">
                  <c:v>178000</c:v>
                </c:pt>
                <c:pt idx="13">
                  <c:v>181000</c:v>
                </c:pt>
                <c:pt idx="14">
                  <c:v>228000</c:v>
                </c:pt>
                <c:pt idx="15">
                  <c:v>320000</c:v>
                </c:pt>
                <c:pt idx="16">
                  <c:v>368000</c:v>
                </c:pt>
                <c:pt idx="17">
                  <c:v>283000</c:v>
                </c:pt>
                <c:pt idx="18">
                  <c:v>197000</c:v>
                </c:pt>
                <c:pt idx="19">
                  <c:v>134000</c:v>
                </c:pt>
                <c:pt idx="20">
                  <c:v>104000</c:v>
                </c:pt>
                <c:pt idx="21">
                  <c:v>75000</c:v>
                </c:pt>
                <c:pt idx="22">
                  <c:v>46000</c:v>
                </c:pt>
                <c:pt idx="23">
                  <c:v>46000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70-4A95-9C04-542E27A1DA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215000</c:v>
                </c:pt>
                <c:pt idx="1">
                  <c:v>215000</c:v>
                </c:pt>
                <c:pt idx="2">
                  <c:v>211000</c:v>
                </c:pt>
                <c:pt idx="3">
                  <c:v>245000</c:v>
                </c:pt>
                <c:pt idx="4">
                  <c:v>301000</c:v>
                </c:pt>
                <c:pt idx="5">
                  <c:v>393000</c:v>
                </c:pt>
                <c:pt idx="6">
                  <c:v>312000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D5-41FD-8087-F1F6B639D6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Member</c:v>
                </c:pt>
              </c:strCache>
            </c:strRef>
          </c:tx>
          <c:spPr>
            <a:solidFill>
              <a:srgbClr val="2A6EB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482000</c:v>
                </c:pt>
                <c:pt idx="1">
                  <c:v>538000</c:v>
                </c:pt>
                <c:pt idx="2">
                  <c:v>525000</c:v>
                </c:pt>
                <c:pt idx="3">
                  <c:v>551000</c:v>
                </c:pt>
                <c:pt idx="4">
                  <c:v>506000</c:v>
                </c:pt>
                <c:pt idx="5">
                  <c:v>430000</c:v>
                </c:pt>
                <c:pt idx="6">
                  <c:v>366000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D5-41FD-8087-F1F6B639D6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22000</c:v>
                </c:pt>
                <c:pt idx="1">
                  <c:v>27000</c:v>
                </c:pt>
                <c:pt idx="2">
                  <c:v>82000</c:v>
                </c:pt>
                <c:pt idx="3">
                  <c:v>104000</c:v>
                </c:pt>
                <c:pt idx="4">
                  <c:v>173000</c:v>
                </c:pt>
                <c:pt idx="5">
                  <c:v>275000</c:v>
                </c:pt>
                <c:pt idx="6">
                  <c:v>304000</c:v>
                </c:pt>
                <c:pt idx="7">
                  <c:v>318000</c:v>
                </c:pt>
                <c:pt idx="8">
                  <c:v>253000</c:v>
                </c:pt>
                <c:pt idx="9">
                  <c:v>212000</c:v>
                </c:pt>
                <c:pt idx="10">
                  <c:v>94000</c:v>
                </c:pt>
                <c:pt idx="11">
                  <c:v>28000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1D-402C-8E48-BC7F0C8A56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Member</c:v>
                </c:pt>
              </c:strCache>
            </c:strRef>
          </c:tx>
          <c:spPr>
            <a:solidFill>
              <a:srgbClr val="2A6EBB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108000</c:v>
                </c:pt>
                <c:pt idx="1">
                  <c:v>115000</c:v>
                </c:pt>
                <c:pt idx="2">
                  <c:v>204000</c:v>
                </c:pt>
                <c:pt idx="3">
                  <c:v>253000</c:v>
                </c:pt>
                <c:pt idx="4">
                  <c:v>306000</c:v>
                </c:pt>
                <c:pt idx="5">
                  <c:v>371000</c:v>
                </c:pt>
                <c:pt idx="6">
                  <c:v>420000</c:v>
                </c:pt>
                <c:pt idx="7">
                  <c:v>435000</c:v>
                </c:pt>
                <c:pt idx="8">
                  <c:v>432000</c:v>
                </c:pt>
                <c:pt idx="9">
                  <c:v>405000</c:v>
                </c:pt>
                <c:pt idx="10">
                  <c:v>248000</c:v>
                </c:pt>
                <c:pt idx="11">
                  <c:v>105000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1D-402C-8E48-BC7F0C8A56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B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ride length (min)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E49-47AD-BF47-14357EE938FA}"/>
              </c:ext>
            </c:extLst>
          </c:dPt>
          <c:dPt>
            <c:idx val="1"/>
            <c:invertIfNegative val="0"/>
            <c:bubble3D val="0"/>
            <c:spPr>
              <a:solidFill>
                <a:srgbClr val="2A6E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E49-47AD-BF47-14357EE938F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20.2</c:v>
                </c:pt>
                <c:pt idx="1">
                  <c:v>12.5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E49-47AD-BF47-14357EE938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B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892A4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8892A4"/>
                    </a:solidFill>
                    <a:latin typeface="Arial"/>
                  </a:rPr>
                  <a:t>minutes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&lt; 15 min</c:v>
                </c:pt>
              </c:strCache>
            </c:strRef>
          </c:tx>
          <c:spPr>
            <a:solidFill>
              <a:srgbClr val="1C6EA4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1130000</c:v>
                </c:pt>
                <c:pt idx="1">
                  <c:v>2560000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35-4E9A-AFBF-4ED015DA98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15–30 min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465000</c:v>
                </c:pt>
                <c:pt idx="1">
                  <c:v>640000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35-4E9A-AFBF-4ED015DA987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30–60 min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204000</c:v>
                </c:pt>
                <c:pt idx="1">
                  <c:v>155000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35-4E9A-AFBF-4ED015DA987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&gt; 60 min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95000</c:v>
                </c:pt>
                <c:pt idx="1">
                  <c:v>35000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B35-4E9A-AFBF-4ED015DA98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B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892A4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8892A4"/>
                    </a:solidFill>
                    <a:latin typeface="Arial"/>
                  </a:rPr>
                  <a:t>ride count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9733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47548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201168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301752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4023360"/>
            <a:ext cx="8686800" cy="0"/>
          </a:xfrm>
          <a:prstGeom prst="line">
            <a:avLst/>
          </a:prstGeom>
          <a:noFill/>
          <a:ln w="381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DATA ANALYTICS CAPSTONE  ·  CYCLISTIC BIKE SHARE CASE STUDY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777240"/>
            <a:ext cx="6858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Riders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Cyclistic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Bikes Differently?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6576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 Bike-Share  </a:t>
            </a: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Marketing Analytics Team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1280160"/>
            <a:ext cx="2011680" cy="2194560"/>
          </a:xfrm>
          <a:prstGeom prst="rect">
            <a:avLst/>
          </a:prstGeom>
          <a:solidFill>
            <a:srgbClr val="0F3460"/>
          </a:solidFill>
          <a:ln w="12700">
            <a:solidFill>
              <a:srgbClr val="E94560"/>
            </a:solidFill>
            <a:prstDash val="solid"/>
          </a:ln>
          <a:effectLst>
            <a:outerShdw blurRad="228600" dist="635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949440" y="14173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5,800+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949440" y="20116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across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692 stations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Chicago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 FLEET</a:t>
            </a:r>
            <a:endParaRPr lang="en-US" sz="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B54E61-E3D0-3061-FB6E-BC3EE08FB397}"/>
              </a:ext>
            </a:extLst>
          </p:cNvPr>
          <p:cNvSpPr txBox="1"/>
          <p:nvPr/>
        </p:nvSpPr>
        <p:spPr>
          <a:xfrm>
            <a:off x="365760" y="3644884"/>
            <a:ext cx="4582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Francis Muthukkalai 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Business Task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228600" dist="635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91440" cy="11887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"How do annual members and casual riders use Cyclistic bikes differently?"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Lily Moreno, Director of Marketing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2606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29077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analysts confirm annual members are significantly more profitable than casual riders.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278892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46120" y="2788920"/>
            <a:ext cx="2606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29000" y="29077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32918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 already know Cyclistic. Converting them—not finding new customers—is the priority.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78892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0" y="2788920"/>
            <a:ext cx="2606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17920" y="2907792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Analyst's scope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329184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behavioural differences to inform a targeted conversion campaign.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Prepare, Process &amp; Tools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383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228600" dist="635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6276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Cyclistic Historical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 Data (12 months)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Provided by Motivate International Inc. under public licence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3101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Covers ride start/end times, station locations, bike type and rider type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78561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personally identifiable information — privacy preserved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6110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~5.7 million rows of ride records across 12 CSV files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46320" y="16276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01168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00600" y="20482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3042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analysis environment — pivot tables and charting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00600" y="29626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2186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 — combined 12 CSV files, removed nulls and duplicates, standardised column types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84048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00600" y="38770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41330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ride counts and average durations by rider type, day, month and hour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— Assumptions &amp; Decisions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analysis, the dataset was audited for quality issues. The following records were excluded based on clearly defined assumptions: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64008" cy="6766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89280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Ride Length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1920240"/>
            <a:ext cx="822960" cy="18288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834640" y="19202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40080" y="215798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ride end time earlier than its start time is physically impossible. These records indicate data entry errors or system clock issues and were removed entirely.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64008" cy="6766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266090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Length &gt; 24 hours and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hours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34640" y="2688336"/>
            <a:ext cx="822960" cy="182880"/>
          </a:xfrm>
          <a:prstGeom prst="roundRect">
            <a:avLst>
              <a:gd name="adj" fmla="val 15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834640" y="268833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at both ends of the duration range were excluded: rides over 24 hours suggest an system or clocking error, while rides under 2 minutes could be due to equipment faults.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64992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3364992"/>
            <a:ext cx="64008" cy="676656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rows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34640" y="3456432"/>
            <a:ext cx="822960" cy="182880"/>
          </a:xfrm>
          <a:prstGeom prst="roundRect">
            <a:avLst>
              <a:gd name="adj" fmla="val 15000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834640" y="34564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40080" y="369417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missing start/end time cannot be reliably used in aggregations and were dropped during Power Query ingestion.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133088"/>
            <a:ext cx="82296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" y="4133088"/>
            <a:ext cx="64008" cy="676656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080" y="419709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34640" y="4224528"/>
            <a:ext cx="822960" cy="182880"/>
          </a:xfrm>
          <a:prstGeom prst="roundRect">
            <a:avLst>
              <a:gd name="adj" fmla="val 15000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834640" y="42245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0080" y="446227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 rows — identical ride ID were identified and removed to avoid double-counting rides in pivot table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FINDING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very different riders,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bike network.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2057400"/>
            <a:ext cx="3931920" cy="2651760"/>
          </a:xfrm>
          <a:prstGeom prst="rect">
            <a:avLst/>
          </a:prstGeom>
          <a:solidFill>
            <a:srgbClr val="1E1E35"/>
          </a:solidFill>
          <a:ln w="12700">
            <a:solidFill>
              <a:srgbClr val="E07B39"/>
            </a:solidFill>
            <a:prstDash val="solid"/>
          </a:ln>
          <a:effectLst>
            <a:outerShdw blurRad="228600" dist="635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3931920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963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Rides for leisure &amp; recreation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Peaks Saturday &amp; Sunday afternoons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7355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~20 min average ride — longer, exploratory trips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02736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Concentrated in summer months (May–Sep)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93192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Gradual mid-morning build, no commute spikes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261104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More 30–60 min rides than members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057400"/>
            <a:ext cx="3931920" cy="2651760"/>
          </a:xfrm>
          <a:prstGeom prst="rect">
            <a:avLst/>
          </a:prstGeom>
          <a:solidFill>
            <a:srgbClr val="0D1E35"/>
          </a:solidFill>
          <a:ln w="12700">
            <a:solidFill>
              <a:srgbClr val="2A6EBB"/>
            </a:solidFill>
            <a:prstDash val="solid"/>
          </a:ln>
          <a:effectLst>
            <a:outerShdw blurRad="228600" dist="635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846320" y="2057400"/>
            <a:ext cx="3931920" cy="73152"/>
          </a:xfrm>
          <a:prstGeom prst="rect">
            <a:avLst/>
          </a:prstGeom>
          <a:solidFill>
            <a:srgbClr val="2A6EBB"/>
          </a:solidFill>
          <a:ln w="12700">
            <a:solidFill>
              <a:srgbClr val="2A6E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0" y="21762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MEMBER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4963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Rides to commute to 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944368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Sharp spikes at 8am and 5pm on weekdays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3273552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~12.5 min average ride — direct, purposeful trips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602736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Consistent usage year-round, even in winter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3931920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Monday–Friday dominates; dip on weekends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4261104"/>
            <a:ext cx="3566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A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Overwhelmingly short rides under 15 minutes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1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Riding by Hour — The Commute Signal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61872"/>
          <a:ext cx="603504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261872"/>
            <a:ext cx="2331720" cy="3611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228600" dist="635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720840" y="14173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chart shows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720840" y="1874520"/>
            <a:ext cx="54864" cy="777240"/>
          </a:xfrm>
          <a:prstGeom prst="rect">
            <a:avLst/>
          </a:prstGeom>
          <a:solidFill>
            <a:srgbClr val="2A6EBB"/>
          </a:solidFill>
          <a:ln w="12700">
            <a:solidFill>
              <a:srgbClr val="2A6E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858000" y="188366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8am peak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0" y="212140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surge at 8am — the morning commute. A typical member is cycling to the office.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20840" y="2834640"/>
            <a:ext cx="54864" cy="777240"/>
          </a:xfrm>
          <a:prstGeom prst="rect">
            <a:avLst/>
          </a:prstGeom>
          <a:solidFill>
            <a:srgbClr val="2A6EBB"/>
          </a:solidFill>
          <a:ln w="12700">
            <a:solidFill>
              <a:srgbClr val="2A6E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858000" y="284378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5pm peak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308152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member spike at 5pm confirms the return commute pattern.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20840" y="3794760"/>
            <a:ext cx="54864" cy="7772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858000" y="380390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Mid-day curve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58000" y="404164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Casuals build steadily from 10am, plateau through the afternoon — a leisure riding profile.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2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Riding by Day — Weekday vs Weekend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61872"/>
          <a:ext cx="603504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261872"/>
            <a:ext cx="2331720" cy="3611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228600" dist="635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720840" y="14173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chart shows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720840" y="1874520"/>
            <a:ext cx="54864" cy="7772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858000" y="188366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peak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0" y="212140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Casuals hit ~393K rides on Saturday — nearly double their weekday average. Weekend recreation.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20840" y="2834640"/>
            <a:ext cx="54864" cy="777240"/>
          </a:xfrm>
          <a:prstGeom prst="rect">
            <a:avLst/>
          </a:prstGeom>
          <a:solidFill>
            <a:srgbClr val="2A6EBB"/>
          </a:solidFill>
          <a:ln w="12700">
            <a:solidFill>
              <a:srgbClr val="2A6E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858000" y="284378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dominance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308152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are remarkably stable Mon–Fri. This is habitual, utility-driven behaviour.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20840" y="3794760"/>
            <a:ext cx="54864" cy="777240"/>
          </a:xfrm>
          <a:prstGeom prst="rect">
            <a:avLst/>
          </a:prstGeom>
          <a:solidFill>
            <a:srgbClr val="2A6EBB"/>
          </a:solidFill>
          <a:ln w="12700">
            <a:solidFill>
              <a:srgbClr val="2A6E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858000" y="380390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dip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58000" y="404164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actually ride less on weekends — confirming the commute-first use case.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3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Riding by Month — The Seasonal Gap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61872"/>
          <a:ext cx="603504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261872"/>
            <a:ext cx="2331720" cy="36118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228600" dist="635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720840" y="14173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chart shows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720840" y="1874520"/>
            <a:ext cx="54864" cy="7772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858000" y="188366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window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0" y="212140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rides peak June–Aug at 300K+. This is the prime conversion opportunity window.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20840" y="2834640"/>
            <a:ext cx="54864" cy="7772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858000" y="284378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cliff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858000" y="308152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rides drop ~93% by January — highly weather-dependent, discretionary use.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20840" y="3794760"/>
            <a:ext cx="54864" cy="777240"/>
          </a:xfrm>
          <a:prstGeom prst="rect">
            <a:avLst/>
          </a:prstGeom>
          <a:solidFill>
            <a:srgbClr val="2A6EBB"/>
          </a:solidFill>
          <a:ln w="12700">
            <a:solidFill>
              <a:srgbClr val="2A6E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858000" y="380390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6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Year-round habit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58000" y="404164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maintain 25%+ of peak volume in winter — bikes are a genuine transport tool for them.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4 /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 Duration — Leisure vs Purpose</a:t>
            </a:r>
            <a:endParaRPr lang="en-US" sz="2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61872"/>
          <a:ext cx="40233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434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ride length</a:t>
            </a:r>
            <a:endParaRPr lang="en-US" sz="10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663440" y="1261872"/>
          <a:ext cx="41148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4663440" y="4434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by duration bracket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365760" y="4736592"/>
            <a:ext cx="73152" cy="2743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50292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Casuals ride 62% longer on average, with more 30–60 min trips — consistent with exploration and leisure, not commuting.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Strategies to Convert Casual Riders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1097280"/>
          </a:xfrm>
          <a:prstGeom prst="rect">
            <a:avLst/>
          </a:prstGeom>
          <a:solidFill>
            <a:srgbClr val="0D1828"/>
          </a:solidFill>
          <a:ln w="1016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73152" cy="109728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HIGHEST PRIORITY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Weekend Conversion Campaign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65376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targeted digital and in-app campaigns on Fridays–Sundays between May and August — when casual ridership peaks at ~393K rides/Saturday. Offer a time-limited annual membership discount at high-traffic leisure stations (parks, waterfronts, tourist areas). Messaging: 'You already ride with us — make it year-round.'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8412480" cy="1097280"/>
          </a:xfrm>
          <a:prstGeom prst="rect">
            <a:avLst/>
          </a:prstGeom>
          <a:solidFill>
            <a:srgbClr val="0D1828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73152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MEDIUM PRIORITY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843784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Membership Trial for Commute-Adjacent Riders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081528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casual riders who use Cyclistic on 3+ weekdays in a month — they are already commute-adjacent. Offer a discounted 30-day membership trial with push notifications timed to the 8am and 5pm commute peaks. Lower the financial barrier to entry and frame it around a real use case: 'Cycle to work — your morning commute sorted.'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730752"/>
            <a:ext cx="8412480" cy="1097280"/>
          </a:xfrm>
          <a:prstGeom prst="rect">
            <a:avLst/>
          </a:prstGeom>
          <a:solidFill>
            <a:srgbClr val="0D1828"/>
          </a:solidFill>
          <a:ln w="1016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3730752"/>
            <a:ext cx="73152" cy="10972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382219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RETENTION &amp; PIPELINE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059936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Bridge Pass + Early-Bird Membership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297680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Outside primary scope, but warrants consideration. Introduce a 3-day weekend pass (Fri–Sun) as a stepping-stone product in off-peak months (Nov–Feb). Casual rides drop 93% in winter — a low-cost pass maintains engagement and brand touchpoints. Pair with an early-bird annual membership offer redeemable the following spring to convert engaged casuals before peak season.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Applying These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6400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qualitative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short rider surveys at high-casual stations to test whether commuting is a stated barrier — and what pricing would motivate conversion.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6400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Geo-analysis of top casual stations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85623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docking stations over-index for casual weekend traffic to focus physical marketing (signage, QR codes, promotions) in the right places.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6400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the summer campaign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59359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two creative variants in July: one price-led offer, one lifestyle/commute-framing message. Measure conversion rate and track through Q4.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1546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4E9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46320" y="3154680"/>
            <a:ext cx="6400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0" y="3291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trial-to-member conversion rate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593592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what percentage of discounted trial members convert to full annual membership after 30 days — the single most important metric for the campaign.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7498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is clear.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44475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6E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members </a:t>
            </a:r>
            <a:r>
              <a:rPr lang="en-US" sz="1800" dirty="0">
                <a:solidFill>
                  <a:srgbClr val="9AAA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rely on Cyclistic to get to work.
</a:t>
            </a:r>
            <a:r>
              <a:rPr lang="en-US" sz="1800" b="1" dirty="0">
                <a:solidFill>
                  <a:srgbClr val="E07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Casual riders </a:t>
            </a:r>
            <a:r>
              <a:rPr lang="en-US" sz="1800" dirty="0">
                <a:solidFill>
                  <a:srgbClr val="9AAA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it to enjoy the city.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casual riders means showing them that the bike they enjoy on Saturday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also be the one that gets them to work on Monday. Summer is the conversion window.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12700">
            <a:solidFill>
              <a:srgbClr val="344B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3364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Data Analytics Capstone   ·  Cyclistic Bike-Share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2926080" y="2514600"/>
            <a:ext cx="329184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2670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Behaviour Analysis</a:t>
            </a:r>
            <a:endParaRPr lang="en-US" sz="13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2A903898-3CA1-D6CB-F58D-5BC38497A50B}"/>
              </a:ext>
            </a:extLst>
          </p:cNvPr>
          <p:cNvSpPr/>
          <p:nvPr/>
        </p:nvSpPr>
        <p:spPr>
          <a:xfrm>
            <a:off x="914400" y="3364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Data Analytics Capstone   ·  Cyclistic Bike-Share</a:t>
            </a:r>
            <a:endParaRPr lang="en-US" sz="100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E6EFD0BA-E3E3-6DBE-F8A6-C60928EF6ECB}"/>
              </a:ext>
            </a:extLst>
          </p:cNvPr>
          <p:cNvSpPr/>
          <p:nvPr/>
        </p:nvSpPr>
        <p:spPr>
          <a:xfrm>
            <a:off x="457200" y="2148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Francis Muthukkalai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1169</Words>
  <Application>Microsoft Office PowerPoint</Application>
  <PresentationFormat>On-screen Show (16:9)</PresentationFormat>
  <Paragraphs>147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Bike-Share: Rider Behaviour Analysis</dc:title>
  <dc:subject>PptxGenJS Presentation</dc:subject>
  <dc:creator>Data Analyst</dc:creator>
  <cp:lastModifiedBy>Peter Muthukkalai</cp:lastModifiedBy>
  <cp:revision>9</cp:revision>
  <dcterms:created xsi:type="dcterms:W3CDTF">2026-03-21T17:53:52Z</dcterms:created>
  <dcterms:modified xsi:type="dcterms:W3CDTF">2026-03-21T18:26:55Z</dcterms:modified>
</cp:coreProperties>
</file>